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4"/>
  </p:notesMasterIdLst>
  <p:sldIdLst>
    <p:sldId id="256" r:id="rId2"/>
    <p:sldId id="259" r:id="rId3"/>
    <p:sldId id="275" r:id="rId4"/>
    <p:sldId id="273" r:id="rId5"/>
    <p:sldId id="267" r:id="rId6"/>
    <p:sldId id="282" r:id="rId7"/>
    <p:sldId id="278" r:id="rId8"/>
    <p:sldId id="279" r:id="rId9"/>
    <p:sldId id="277" r:id="rId10"/>
    <p:sldId id="280" r:id="rId11"/>
    <p:sldId id="28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4"/>
    <p:restoredTop sz="94682"/>
  </p:normalViewPr>
  <p:slideViewPr>
    <p:cSldViewPr snapToGrid="0">
      <p:cViewPr varScale="1">
        <p:scale>
          <a:sx n="119" d="100"/>
          <a:sy n="119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FDD79-5122-FA4B-AB70-9D738EC79B72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6B359C-61B2-C346-A47F-B7226023F4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6B359C-61B2-C346-A47F-B7226023F4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97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020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86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44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55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085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2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29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106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34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12/10/25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72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12/10/25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85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tatman/lego-database/download?datasetVersionNumber=1" TargetMode="External"/><Relationship Id="rId2" Type="http://schemas.openxmlformats.org/officeDocument/2006/relationships/hyperlink" Target="https://www.kaggle.com/datasets/PromptCloudHQ/toy-products-on-amazon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ego.com/en-us/aboutus/lego-group/policies-and-reporting/reports" TargetMode="External"/><Relationship Id="rId4" Type="http://schemas.openxmlformats.org/officeDocument/2006/relationships/hyperlink" Target="https://trends.google.com/trends/explore?date=today%205-y&amp;q=LEGO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5FA838A-0E6E-4C88-AD16-9F85F559A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776151C-B860-4795-BFFE-F03EA5ED1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09A6CDA-1F80-461D-8F38-7CB1291434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CDB1976-3A6B-4C16-97AC-67C792186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CA8B170-F785-4124-87F7-3572171AFC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79AF682-A8D7-4472-A839-942C27784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C796E0-2433-4EC2-BC73-AE164D10E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30062F3-843F-4526-900A-D2E208793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0DCB46FC-1F32-4277-859B-CA43B63EC6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A8221B7-2F05-4B1C-86FD-19584DC95D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A2AF832F-AB88-42C7-B2F7-4BF3659A5F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9BC4C10-0437-44D7-9B16-5D65CBDE5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3635B49-FBB3-46C2-9DF8-CF0075EE3C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C6703F5-894D-4289-97F5-E57DD4092C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005768-6A84-42F3-B812-F73EFC6A3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9764DCF-F546-4CF1-AD5D-48FC34631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D4A8437-E10D-4D18-8C3F-DA4A6CF4F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A16393C-72E3-4119-8F85-2BE2F3335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CE950CD-0BA2-4E8E-8A28-238F5A128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44E765B-48B0-4E85-8F07-5A919C71D1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DB66722-3EF0-4F8A-9DC8-78E0707CB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F9B387-70F9-4CAC-A228-6CE60EC3F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27FA5C8-229C-44FF-B402-6F923E45C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EBC897A-E45F-4C79-AF98-0822C279A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AB8DD1-BC74-473C-A3BD-D8FB548B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7BBCDF-045D-48C1-A45C-BEEB892B36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43A2613-A9FC-4330-8BF0-AF8AA2A23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06C82F6-F384-4FF8-8C8D-E2E8C4F3E0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A1AD9FE-6990-40AF-BA95-B0CB398A4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A32048C-7FE5-4B3D-9FC0-C544A1217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81D93C9-C94C-4F4C-97DA-01D1AF5E97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596736-466A-49D2-9B3C-FC567257CB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502090-5B0C-2FFC-BEF5-38E2BA5DD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3439314"/>
            <a:ext cx="10809844" cy="2322618"/>
          </a:xfrm>
        </p:spPr>
        <p:txBody>
          <a:bodyPr anchor="t">
            <a:normAutofit/>
          </a:bodyPr>
          <a:lstStyle/>
          <a:p>
            <a:r>
              <a:rPr lang="en-CA" dirty="0"/>
              <a:t>LEGO Amazon Profit Optimization</a:t>
            </a:r>
            <a:endParaRPr lang="en-CA" dirty="0"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629D6E-EFA9-C74B-25BD-57961D5F11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8814" y="5524982"/>
            <a:ext cx="4414178" cy="1075444"/>
          </a:xfrm>
        </p:spPr>
        <p:txBody>
          <a:bodyPr anchor="b">
            <a:normAutofit/>
          </a:bodyPr>
          <a:lstStyle/>
          <a:p>
            <a:pPr algn="r"/>
            <a:r>
              <a:rPr lang="en-US" dirty="0"/>
              <a:t>GROUP 5</a:t>
            </a:r>
          </a:p>
        </p:txBody>
      </p:sp>
      <p:pic>
        <p:nvPicPr>
          <p:cNvPr id="4" name="Picture 3" descr="Vector background of vibrant colors splashing">
            <a:extLst>
              <a:ext uri="{FF2B5EF4-FFF2-40B4-BE49-F238E27FC236}">
                <a16:creationId xmlns:a16="http://schemas.microsoft.com/office/drawing/2014/main" id="{59A266EC-00A3-F94C-9C50-F15523DAB6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890" b="18770"/>
          <a:stretch>
            <a:fillRect/>
          </a:stretch>
        </p:blipFill>
        <p:spPr>
          <a:xfrm>
            <a:off x="-6214" y="10"/>
            <a:ext cx="12214825" cy="3267587"/>
          </a:xfrm>
          <a:custGeom>
            <a:avLst/>
            <a:gdLst/>
            <a:ahLst/>
            <a:cxnLst/>
            <a:rect l="l" t="t" r="r" b="b"/>
            <a:pathLst>
              <a:path w="12214825" h="3383384">
                <a:moveTo>
                  <a:pt x="12213819" y="0"/>
                </a:moveTo>
                <a:cubicBezTo>
                  <a:pt x="12213819" y="29107"/>
                  <a:pt x="12214067" y="89770"/>
                  <a:pt x="12214502" y="174101"/>
                </a:cubicBezTo>
                <a:lnTo>
                  <a:pt x="12214825" y="234681"/>
                </a:lnTo>
                <a:lnTo>
                  <a:pt x="12214825" y="2718323"/>
                </a:lnTo>
                <a:lnTo>
                  <a:pt x="11377417" y="2725712"/>
                </a:lnTo>
                <a:cubicBezTo>
                  <a:pt x="7318291" y="2799276"/>
                  <a:pt x="6189525" y="3387660"/>
                  <a:pt x="3246747" y="3383361"/>
                </a:cubicBezTo>
                <a:cubicBezTo>
                  <a:pt x="2493396" y="3382260"/>
                  <a:pt x="1619330" y="3339570"/>
                  <a:pt x="544071" y="3235389"/>
                </a:cubicBezTo>
                <a:lnTo>
                  <a:pt x="19466" y="3181198"/>
                </a:lnTo>
                <a:cubicBezTo>
                  <a:pt x="22117" y="2650999"/>
                  <a:pt x="12840" y="2122787"/>
                  <a:pt x="3563" y="1594575"/>
                </a:cubicBezTo>
                <a:lnTo>
                  <a:pt x="0" y="1239098"/>
                </a:lnTo>
                <a:lnTo>
                  <a:pt x="0" y="7944"/>
                </a:lnTo>
                <a:close/>
              </a:path>
            </a:pathLst>
          </a:custGeom>
        </p:spPr>
      </p:pic>
      <p:sp>
        <p:nvSpPr>
          <p:cNvPr id="44" name="Right Triangle 43">
            <a:extLst>
              <a:ext uri="{FF2B5EF4-FFF2-40B4-BE49-F238E27FC236}">
                <a16:creationId xmlns:a16="http://schemas.microsoft.com/office/drawing/2014/main" id="{DB537E44-9142-4F0D-A29D-C1409784F2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9641" y="3682052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46638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6" name="Right Triangle 195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98" name="Rectangle 197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807F70BA-21EF-4B7D-ACFF-D02E136D4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7D487A9C-B45A-450B-B04B-02570D8F4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9C56948-B944-4EAA-A601-1C3F289A7C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3EFFD07-1C36-4595-9832-727669712C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FA5917E5-3154-42BC-8308-71C3D44DB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B05D64D-A9ED-421A-9ABE-761977A815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25E49393-F5BE-4823-92E3-7A624F7EAA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46035503-21C0-4568-B46B-90BB750327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5CACA2B-D1AF-419E-BFBF-413F69DFD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284408D-F3CE-466F-A0C8-D27F2BCFC6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A2C5065B-1474-4D66-99DB-CFEF811C0F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6C6F4B51-92DC-4003-A3E7-28710D57A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0D5C13CE-E4FE-4F85-BC09-9C950ED752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851C5D97-1CDA-475E-BAC6-EE58999872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B712EBA-54FF-45FE-9A4E-98C0C0EC2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7E0AB49E-A89E-4B6C-AAAA-96E326D154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1E63E817-E471-4A64-9EF6-FFB1FBB34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4BB2927-CDAC-455A-8D26-8582DD13D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A8E42F79-594B-4397-8A30-281228E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6E578AA8-0A5F-4BAA-AAFC-8A1E0783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BA6CB24-165E-4D82-A315-18FFF8ABC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6A7AFC89-7922-47E2-8920-9883AF13C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82D63DEE-348A-4118-952F-DCD6FC1B6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7A17409-8146-400D-A3C1-1E93FE205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621B7B93-01A0-4FDD-A6E1-572957781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6D3948D1-38CD-41AC-BBE8-291A85A703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633F3FE-70B6-41BD-A2D7-F9A53AB38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09D1DD0D-9D4A-41EA-9650-F8215D949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8148EE7C-8DC4-4A31-A981-8F838EA8FA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F7F7EC5C-3015-4A5E-A9E3-B53F5293D2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FD7AF31F-4674-411A-837A-ED991478D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5D3DAED2-414E-42E1-998A-6D7EF4A4D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3" name="Right Triangle 232">
            <a:extLst>
              <a:ext uri="{FF2B5EF4-FFF2-40B4-BE49-F238E27FC236}">
                <a16:creationId xmlns:a16="http://schemas.microsoft.com/office/drawing/2014/main" id="{9E92C66B-792F-479F-B983-F47FEE1AB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2530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F2B33-7BC1-4832-E460-70464D7F7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5818396" cy="136215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Business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A6A48-D0FD-31C0-F930-57A3B377E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9" y="2340131"/>
            <a:ext cx="5818396" cy="379191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As LEGO's consultant, we're tasked with boosting Amazon profits. Concerns: </a:t>
            </a:r>
          </a:p>
          <a:p>
            <a:pPr lvl="1"/>
            <a:r>
              <a:rPr lang="en-US" dirty="0"/>
              <a:t>Pricing vs. competitors/economy</a:t>
            </a:r>
          </a:p>
          <a:p>
            <a:pPr lvl="1"/>
            <a:r>
              <a:rPr lang="en-US" dirty="0"/>
              <a:t>Popularity amid digital entertainment</a:t>
            </a:r>
          </a:p>
          <a:p>
            <a:pPr lvl="1"/>
            <a:r>
              <a:rPr lang="en-CA" dirty="0"/>
              <a:t>Adult Fans of LEGO(</a:t>
            </a:r>
            <a:r>
              <a:rPr lang="en-US" dirty="0"/>
              <a:t>AFOL) fanatics</a:t>
            </a:r>
          </a:p>
          <a:p>
            <a:pPr lvl="1"/>
            <a:r>
              <a:rPr lang="en-US" dirty="0"/>
              <a:t>Media costs</a:t>
            </a:r>
          </a:p>
          <a:p>
            <a:pPr lvl="1"/>
            <a:r>
              <a:rPr lang="en-US" dirty="0"/>
              <a:t>Rare sets sales</a:t>
            </a:r>
          </a:p>
          <a:p>
            <a:pPr lvl="1"/>
            <a:r>
              <a:rPr lang="en-US" dirty="0"/>
              <a:t>Yearly distribution</a:t>
            </a:r>
          </a:p>
          <a:p>
            <a:pPr marL="228600" lvl="1"/>
            <a:r>
              <a:rPr lang="en-US" dirty="0"/>
              <a:t>=&gt; Goal: Data-driven plan for +$1.02B incremental profit (2026–2028).</a:t>
            </a:r>
            <a:endParaRPr lang="en-US" dirty="0">
              <a:effectLst/>
            </a:endParaRPr>
          </a:p>
        </p:txBody>
      </p:sp>
      <p:pic>
        <p:nvPicPr>
          <p:cNvPr id="7" name="Content Placeholder 6" descr="A red and white logo&#10;&#10;AI-generated content may be incorrect.">
            <a:extLst>
              <a:ext uri="{FF2B5EF4-FFF2-40B4-BE49-F238E27FC236}">
                <a16:creationId xmlns:a16="http://schemas.microsoft.com/office/drawing/2014/main" id="{28A24FF5-A5A9-C690-E6FF-020BB236DC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87094" y="1231415"/>
            <a:ext cx="4401655" cy="440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744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35F1E-282A-6543-C6ED-D5820B1C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Data Sources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99D41-8E50-FC0E-B3BD-186E51EA21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Toy Products on Amazon: </a:t>
            </a:r>
            <a:r>
              <a:rPr lang="en-US" dirty="0">
                <a:hlinkClick r:id="rId2"/>
              </a:rPr>
              <a:t>https://www.kaggle.com/datasets/PromptCloudHQ/toy-products-on-amazon</a:t>
            </a:r>
            <a:endParaRPr lang="en-US" dirty="0"/>
          </a:p>
          <a:p>
            <a:r>
              <a:rPr lang="en-US" dirty="0"/>
              <a:t>LEGO Database (</a:t>
            </a:r>
            <a:r>
              <a:rPr lang="en-US" dirty="0" err="1"/>
              <a:t>Rebrickable</a:t>
            </a:r>
            <a:r>
              <a:rPr lang="en-US" dirty="0"/>
              <a:t>): </a:t>
            </a:r>
            <a:r>
              <a:rPr lang="en-US" dirty="0">
                <a:hlinkClick r:id="rId3"/>
              </a:rPr>
              <a:t>https://www.kaggle.com/datasets/rtatman/lego-database/download?datasetVersionNumber=1</a:t>
            </a:r>
            <a:endParaRPr lang="en-US" dirty="0"/>
          </a:p>
          <a:p>
            <a:r>
              <a:rPr lang="en-US" dirty="0"/>
              <a:t>Google Trend LEGO: </a:t>
            </a:r>
            <a:r>
              <a:rPr lang="en-CA" dirty="0"/>
              <a:t>Trends Page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https://trends.google.com/trends/explore?date=today%205-y&amp;q=LEGO</a:t>
            </a:r>
            <a:endParaRPr lang="en-US" dirty="0"/>
          </a:p>
          <a:p>
            <a:r>
              <a:rPr lang="en-US" dirty="0"/>
              <a:t>LEGO Annual Reports: </a:t>
            </a:r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www.lego.com</a:t>
            </a:r>
            <a:r>
              <a:rPr lang="en-US" dirty="0">
                <a:hlinkClick r:id="rId5"/>
              </a:rPr>
              <a:t>/</a:t>
            </a:r>
            <a:r>
              <a:rPr lang="en-US" dirty="0" err="1">
                <a:hlinkClick r:id="rId5"/>
              </a:rPr>
              <a:t>en</a:t>
            </a:r>
            <a:r>
              <a:rPr lang="en-US" dirty="0">
                <a:hlinkClick r:id="rId5"/>
              </a:rPr>
              <a:t>-us/</a:t>
            </a:r>
            <a:r>
              <a:rPr lang="en-US" dirty="0" err="1">
                <a:hlinkClick r:id="rId5"/>
              </a:rPr>
              <a:t>aboutus</a:t>
            </a:r>
            <a:r>
              <a:rPr lang="en-US" dirty="0">
                <a:hlinkClick r:id="rId5"/>
              </a:rPr>
              <a:t>/</a:t>
            </a:r>
            <a:r>
              <a:rPr lang="en-US" dirty="0" err="1">
                <a:hlinkClick r:id="rId5"/>
              </a:rPr>
              <a:t>lego</a:t>
            </a:r>
            <a:r>
              <a:rPr lang="en-US" dirty="0">
                <a:hlinkClick r:id="rId5"/>
              </a:rPr>
              <a:t>-group/policies-and-reporting/reports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01969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F77DE9-DFC0-72F0-7E5E-9B9460C3F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4" name="Group 393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7" name="Right Triangle 42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429" name="Rectangle 42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4" name="Right Triangle 463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05CCE-E10A-C98B-0ADE-77959D478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Pricing vs. competitors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4D10-6651-8B68-D3F7-90F5FCE5A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9" y="2886117"/>
            <a:ext cx="4038652" cy="32768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LEGO Median: £18.92</a:t>
            </a:r>
          </a:p>
          <a:p>
            <a:r>
              <a:rPr lang="en-US" dirty="0"/>
              <a:t>Competitors: £10.48</a:t>
            </a:r>
          </a:p>
          <a:p>
            <a:r>
              <a:rPr lang="en-US" dirty="0"/>
              <a:t>Premium: +81%</a:t>
            </a:r>
          </a:p>
          <a:p>
            <a:pPr marL="0" indent="0">
              <a:buNone/>
            </a:pPr>
            <a:r>
              <a:rPr lang="en-US" dirty="0"/>
              <a:t>=&gt; LEGO enjoys extremely high brand strength and pricing power – average Amazon price premium vs Competitors toys is +84%</a:t>
            </a:r>
          </a:p>
        </p:txBody>
      </p:sp>
      <p:pic>
        <p:nvPicPr>
          <p:cNvPr id="7" name="Content Placeholder 6" descr="A graph of a diagram&#10;&#10;AI-generated content may be incorrect.">
            <a:extLst>
              <a:ext uri="{FF2B5EF4-FFF2-40B4-BE49-F238E27FC236}">
                <a16:creationId xmlns:a16="http://schemas.microsoft.com/office/drawing/2014/main" id="{42FEC293-829B-19FE-343E-BDECA70D297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06333" y="1035833"/>
            <a:ext cx="6401443" cy="48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212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348BF5-5B5E-CE15-41A2-312B8A03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roup 314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8" name="Right Triangle 347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350" name="Rectangle 349">
            <a:extLst>
              <a:ext uri="{FF2B5EF4-FFF2-40B4-BE49-F238E27FC236}">
                <a16:creationId xmlns:a16="http://schemas.microsoft.com/office/drawing/2014/main" id="{13B6DAC6-0186-4D62-AD69-90B9C0411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A0297160-077C-4B0C-9F1E-6519CEDB84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31F77CDE-CC8E-40E6-8745-8D7CB6208F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83FCA172-142C-4352-A938-33B43EC3B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253BB53B-6660-4F6B-8C3C-4EAA148CF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921D1E67-3038-4399-8F14-244731FAE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B9A17FB9-5481-4E6D-A157-C4A1D8F297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9B5B4D4B-6074-48B5-B7D7-5B22BDC2A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DFE68CF5-4975-4F0E-98F8-E40F12E8FE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B63AD0D6-BFAB-41EE-A0DD-BFEB6844D1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A7EA9615-8E94-4E0C-BAF0-C52132326C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96A76D71-0BE7-402F-BF24-CB0154E2A0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8B18C09B-8FB5-4D88-B4FF-2090E7818F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3A06FA18-2473-40B2-8AE0-DEDDC5E9A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187746C-FE57-4160-B924-6B283B332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D7337AAE-EB93-4FBD-9904-03664126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D6FA7169-C5DB-4F02-935F-AA39EDA4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A4195B93-DBB3-4197-8D91-A786D4753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3F2FF9EB-46CC-4A22-AF8A-9D11BC9666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631DADE-538C-4EA4-9D90-3AED82E01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035A7E2F-77A0-48A1-A881-1A12940D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5AC39BAD-DB08-4260-BCE5-4E1FB09A4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468F31ED-A97B-4A9A-9F56-221FFB7A3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F362574E-3A61-4C31-915F-F541B7BE08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32BD431-3E1E-4528-AC59-5A23CE4CBA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7DE7131F-209C-4427-96DA-26E0E973EE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3283DFDB-6A1C-41B8-B590-966064699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1DA3D6B3-30E3-4C45-A709-4F775DB846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8F481924-9C4A-4A91-8AB4-D796F33D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53787DCF-DA69-4379-94AB-C361DF3260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753DC9D9-196D-4C02-982F-935945BD5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E2AF9976-A85B-4FAC-ACA0-7B4F06D18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BFD38ACD-F4A1-4970-BE99-87B0A0482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5" name="Right Triangle 384">
            <a:extLst>
              <a:ext uri="{FF2B5EF4-FFF2-40B4-BE49-F238E27FC236}">
                <a16:creationId xmlns:a16="http://schemas.microsoft.com/office/drawing/2014/main" id="{429C64BC-8915-422E-9361-EE04C48FF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261028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406BF-B7AC-B941-BB74-60E485E6A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3930417" cy="24797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Popularity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33886-023C-7A47-4768-F9786B5ACB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3428997"/>
            <a:ext cx="3930417" cy="230663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Compare release patterns over decades to cultural shifts (video games, streaming, digital entertainment).</a:t>
            </a:r>
            <a:endParaRPr lang="en-US" sz="2400" dirty="0">
              <a:effectLst/>
            </a:endParaRPr>
          </a:p>
        </p:txBody>
      </p:sp>
      <p:pic>
        <p:nvPicPr>
          <p:cNvPr id="7" name="Content Placeholder 6" descr="A graph of a number of parts&#10;&#10;AI-generated content may be incorrect.">
            <a:extLst>
              <a:ext uri="{FF2B5EF4-FFF2-40B4-BE49-F238E27FC236}">
                <a16:creationId xmlns:a16="http://schemas.microsoft.com/office/drawing/2014/main" id="{456530DE-747A-098E-1C59-A06D2C0DC0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06340" y="1829240"/>
            <a:ext cx="6382411" cy="3191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0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89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Right Triangle 122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125" name="Rectangle 124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 useBgFill="1">
        <p:nvSpPr>
          <p:cNvPr id="127" name="Freeform: Shape 126">
            <a:extLst>
              <a:ext uri="{FF2B5EF4-FFF2-40B4-BE49-F238E27FC236}">
                <a16:creationId xmlns:a16="http://schemas.microsoft.com/office/drawing/2014/main" id="{E176DC30-5F54-423B-AF50-738BEABE7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490555" y="162759"/>
            <a:ext cx="6857996" cy="6532473"/>
          </a:xfrm>
          <a:custGeom>
            <a:avLst/>
            <a:gdLst>
              <a:gd name="connsiteX0" fmla="*/ 0 w 6857996"/>
              <a:gd name="connsiteY0" fmla="*/ 2827344 h 6142577"/>
              <a:gd name="connsiteX1" fmla="*/ 0 w 6857996"/>
              <a:gd name="connsiteY1" fmla="*/ 5080510 h 6142577"/>
              <a:gd name="connsiteX2" fmla="*/ 3 w 6857996"/>
              <a:gd name="connsiteY2" fmla="*/ 5080510 h 6142577"/>
              <a:gd name="connsiteX3" fmla="*/ 3 w 6857996"/>
              <a:gd name="connsiteY3" fmla="*/ 6142577 h 6142577"/>
              <a:gd name="connsiteX4" fmla="*/ 6857996 w 6857996"/>
              <a:gd name="connsiteY4" fmla="*/ 6142577 h 6142577"/>
              <a:gd name="connsiteX5" fmla="*/ 6857996 w 6857996"/>
              <a:gd name="connsiteY5" fmla="*/ 3928749 h 6142577"/>
              <a:gd name="connsiteX6" fmla="*/ 6857996 w 6857996"/>
              <a:gd name="connsiteY6" fmla="*/ 2572597 h 6142577"/>
              <a:gd name="connsiteX7" fmla="*/ 6857996 w 6857996"/>
              <a:gd name="connsiteY7" fmla="*/ 307516 h 6142577"/>
              <a:gd name="connsiteX8" fmla="*/ 6550769 w 6857996"/>
              <a:gd name="connsiteY8" fmla="*/ 222609 h 6142577"/>
              <a:gd name="connsiteX9" fmla="*/ 5031274 w 6857996"/>
              <a:gd name="connsiteY9" fmla="*/ 33 h 6142577"/>
              <a:gd name="connsiteX10" fmla="*/ 310659 w 6857996"/>
              <a:gd name="connsiteY10" fmla="*/ 1067285 h 6142577"/>
              <a:gd name="connsiteX11" fmla="*/ 2 w 6857996"/>
              <a:gd name="connsiteY11" fmla="*/ 1072307 h 6142577"/>
              <a:gd name="connsiteX12" fmla="*/ 2 w 6857996"/>
              <a:gd name="connsiteY12" fmla="*/ 2827344 h 6142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7996" h="6142577">
                <a:moveTo>
                  <a:pt x="0" y="2827344"/>
                </a:moveTo>
                <a:lnTo>
                  <a:pt x="0" y="5080510"/>
                </a:lnTo>
                <a:lnTo>
                  <a:pt x="3" y="5080510"/>
                </a:lnTo>
                <a:lnTo>
                  <a:pt x="3" y="6142577"/>
                </a:lnTo>
                <a:lnTo>
                  <a:pt x="6857996" y="6142577"/>
                </a:lnTo>
                <a:lnTo>
                  <a:pt x="6857996" y="3928749"/>
                </a:lnTo>
                <a:lnTo>
                  <a:pt x="6857996" y="2572597"/>
                </a:lnTo>
                <a:lnTo>
                  <a:pt x="6857996" y="307516"/>
                </a:lnTo>
                <a:lnTo>
                  <a:pt x="6550769" y="222609"/>
                </a:lnTo>
                <a:cubicBezTo>
                  <a:pt x="5946238" y="65902"/>
                  <a:pt x="5454822" y="1688"/>
                  <a:pt x="5031274" y="33"/>
                </a:cubicBezTo>
                <a:cubicBezTo>
                  <a:pt x="3337081" y="-6590"/>
                  <a:pt x="2728780" y="987729"/>
                  <a:pt x="310659" y="1067285"/>
                </a:cubicBezTo>
                <a:lnTo>
                  <a:pt x="2" y="1072307"/>
                </a:lnTo>
                <a:lnTo>
                  <a:pt x="2" y="2827344"/>
                </a:lnTo>
                <a:close/>
              </a:path>
            </a:pathLst>
          </a:custGeom>
          <a:solidFill>
            <a:srgbClr val="BCBCBC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4675998B-83F9-4DD6-A181-01CC6390E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203DA02-DFF0-43DA-97F8-713359A5E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D7DB5F66-3FA1-4342-A884-49FFC898B0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F62E1DE4-95C3-4648-880D-D5F16DA5B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2F0DE976-09C7-468E-88D4-E653C3B9A9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146834F4-CE01-4256-A71F-E9622367B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24B1666-CD3C-4141-91C0-782A8C0A7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8BEB9DED-5756-4349-86C4-BB40C843E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3E66CDAA-2393-4E50-88AE-4B6DE356D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52ED3B2-4AF6-4D71-AFE0-E628195BEE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38F8274F-6455-416D-9E21-09DCC607D3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A4FC2BA-35B4-4272-AE27-2EA963B9C6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075E2C7-38CF-4C4C-BA60-8EBC4C597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3A41EEBD-A69D-4000-B18A-0FF9079FF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5D674DC2-DB19-4D12-A7CC-A19B45A57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ACE37544-AEB0-4C32-9AB4-FD8868FBB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4A4D92EE-9609-4B42-A0C2-EE8B291A29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014BE4F6-D0F0-4D05-BADF-7BAB738853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82022A48-AB28-42C0-99AA-84E9E942A2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BE1212E-2DDC-41F9-817C-2B0AF529E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2EAC07E3-6FB7-48B5-9418-5D58EC897A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C112200-C0E8-4E4F-B475-BB0C5619B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9BA45913-5C20-4A2E-9401-B69D433BA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253BFA98-23F1-401A-B615-F706954A49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99EE95EF-D097-47D9-98DF-5BA037C497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72E5EAA5-1BC5-4C85-85D9-F7BA73476C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38F5AAC3-E106-4C3A-986B-23C44A9B1B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EC6582A-5366-4B33-8D40-2B474D8B57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A25249E-2F40-425D-A7F1-B7E55EF53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A13EC936-5CFC-4FE5-BCA8-59B3A2EF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FCDE7F7A-C490-430C-876F-0349FC8BFB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D686B4E-119A-4F4A-9392-1F9CFE3BE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Right Triangle 166">
            <a:extLst>
              <a:ext uri="{FF2B5EF4-FFF2-40B4-BE49-F238E27FC236}">
                <a16:creationId xmlns:a16="http://schemas.microsoft.com/office/drawing/2014/main" id="{F3730C34-30B8-42E4-824D-F095747C4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5" y="2059091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7" name="Content Placeholder 86">
            <a:extLst>
              <a:ext uri="{FF2B5EF4-FFF2-40B4-BE49-F238E27FC236}">
                <a16:creationId xmlns:a16="http://schemas.microsoft.com/office/drawing/2014/main" id="{36FB2C36-EC56-CF9D-DCCD-84B25AE0D5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9" y="2883005"/>
            <a:ext cx="4398756" cy="3260398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r>
              <a:rPr lang="en-US" dirty="0"/>
              <a:t>Shifts in themes: e.g., growth in “adult-oriented” or “licensed / pop-culture” themes (like movie/video game tie-ins) over time.</a:t>
            </a:r>
          </a:p>
          <a:p>
            <a:r>
              <a:rPr lang="en-US" dirty="0"/>
              <a:t>Correlate set-release volume with publicly reported revenue growth of LEGO (from annual reports / press releases) to argue whether more product variety is tied to growth.</a:t>
            </a:r>
          </a:p>
        </p:txBody>
      </p:sp>
      <p:pic>
        <p:nvPicPr>
          <p:cNvPr id="6" name="Content Placeholder 5" descr="A graph showing the number of lego sets&#10;&#10;AI-generated content may be incorrect.">
            <a:extLst>
              <a:ext uri="{FF2B5EF4-FFF2-40B4-BE49-F238E27FC236}">
                <a16:creationId xmlns:a16="http://schemas.microsoft.com/office/drawing/2014/main" id="{0329A273-0E92-3702-93AD-345F884AC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3514" y="1104014"/>
            <a:ext cx="4505237" cy="2252619"/>
          </a:xfrm>
          <a:prstGeom prst="rect">
            <a:avLst/>
          </a:prstGeom>
        </p:spPr>
      </p:pic>
      <p:pic>
        <p:nvPicPr>
          <p:cNvPr id="8" name="Content Placeholder 7" descr="A graph of a line graph&#10;&#10;AI-generated content may be incorrect.">
            <a:extLst>
              <a:ext uri="{FF2B5EF4-FFF2-40B4-BE49-F238E27FC236}">
                <a16:creationId xmlns:a16="http://schemas.microsoft.com/office/drawing/2014/main" id="{EABF24AF-5225-49CA-B629-364A86168C5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983514" y="3507853"/>
            <a:ext cx="4505239" cy="225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756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E1B188-2587-5869-D82D-824BE256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9" name="Group 46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70" name="Straight Connector 46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47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7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7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Straight Connector 47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2" name="Right Triangle 501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504" name="Rectangle 503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506" name="Group 505">
            <a:extLst>
              <a:ext uri="{FF2B5EF4-FFF2-40B4-BE49-F238E27FC236}">
                <a16:creationId xmlns:a16="http://schemas.microsoft.com/office/drawing/2014/main" id="{5591A4A5-C00F-4B45-9735-FD2841BF3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07" name="Straight Connector 506">
              <a:extLst>
                <a:ext uri="{FF2B5EF4-FFF2-40B4-BE49-F238E27FC236}">
                  <a16:creationId xmlns:a16="http://schemas.microsoft.com/office/drawing/2014/main" id="{7A16FDB6-C8B8-4BB9-B5F6-C9E7D1549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507">
              <a:extLst>
                <a:ext uri="{FF2B5EF4-FFF2-40B4-BE49-F238E27FC236}">
                  <a16:creationId xmlns:a16="http://schemas.microsoft.com/office/drawing/2014/main" id="{D65D67BC-2831-45D1-804D-2B848B7FF6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Straight Connector 508">
              <a:extLst>
                <a:ext uri="{FF2B5EF4-FFF2-40B4-BE49-F238E27FC236}">
                  <a16:creationId xmlns:a16="http://schemas.microsoft.com/office/drawing/2014/main" id="{B3254059-39EC-48CC-B948-9EE6B0551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509">
              <a:extLst>
                <a:ext uri="{FF2B5EF4-FFF2-40B4-BE49-F238E27FC236}">
                  <a16:creationId xmlns:a16="http://schemas.microsoft.com/office/drawing/2014/main" id="{AF3E0572-7D5E-4FAA-B67C-23A9C6D71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Straight Connector 510">
              <a:extLst>
                <a:ext uri="{FF2B5EF4-FFF2-40B4-BE49-F238E27FC236}">
                  <a16:creationId xmlns:a16="http://schemas.microsoft.com/office/drawing/2014/main" id="{2C5F1231-CF22-4258-B764-592B6CB8D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B2C5387-42A2-4464-BF18-E70B0227B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2926F39D-AFC8-4FF6-9211-84AA777176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0D812696-9AF7-4D2B-A041-80C015F33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CE6CB557-1E5B-4D2D-9330-8EB4AF7307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A03A4B30-3A15-4294-9BED-E7317857F0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E7B8343-CDF9-4023-9FBF-F4ADE601B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9BB30BD5-639D-4F53-BC6C-2A8D0FFFE5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8D7E1947-04B8-4F0B-9E3C-FC4E26D61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83EDB6D6-D309-48D4-87F4-AAED7C57C7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0F2E163F-B043-43B7-85CE-36F2136B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1F6CB03C-E3B1-4D22-ABA3-986CC09FB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39B41E31-EE5F-423F-8B88-3B56009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B59D4FE6-B271-4427-8273-0B80EF1366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Straight Connector 511">
              <a:extLst>
                <a:ext uri="{FF2B5EF4-FFF2-40B4-BE49-F238E27FC236}">
                  <a16:creationId xmlns:a16="http://schemas.microsoft.com/office/drawing/2014/main" id="{6F7D26D0-83A1-41B0-82E3-FB5D3E93EE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Straight Connector 512">
              <a:extLst>
                <a:ext uri="{FF2B5EF4-FFF2-40B4-BE49-F238E27FC236}">
                  <a16:creationId xmlns:a16="http://schemas.microsoft.com/office/drawing/2014/main" id="{07E47C02-EBB8-4368-815C-FEDA23368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Straight Connector 513">
              <a:extLst>
                <a:ext uri="{FF2B5EF4-FFF2-40B4-BE49-F238E27FC236}">
                  <a16:creationId xmlns:a16="http://schemas.microsoft.com/office/drawing/2014/main" id="{8E61DA55-8618-4048-A65A-41E072D9F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514">
              <a:extLst>
                <a:ext uri="{FF2B5EF4-FFF2-40B4-BE49-F238E27FC236}">
                  <a16:creationId xmlns:a16="http://schemas.microsoft.com/office/drawing/2014/main" id="{4DFC058B-6608-4509-92E1-D4D0D5BD5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515">
              <a:extLst>
                <a:ext uri="{FF2B5EF4-FFF2-40B4-BE49-F238E27FC236}">
                  <a16:creationId xmlns:a16="http://schemas.microsoft.com/office/drawing/2014/main" id="{9E3652A3-36D6-4E0C-B7FB-52CD69E9C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Straight Connector 516">
              <a:extLst>
                <a:ext uri="{FF2B5EF4-FFF2-40B4-BE49-F238E27FC236}">
                  <a16:creationId xmlns:a16="http://schemas.microsoft.com/office/drawing/2014/main" id="{8BF82BE6-B2D5-4FA1-98B4-1E0072C39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517">
              <a:extLst>
                <a:ext uri="{FF2B5EF4-FFF2-40B4-BE49-F238E27FC236}">
                  <a16:creationId xmlns:a16="http://schemas.microsoft.com/office/drawing/2014/main" id="{AECA553C-C7B8-4353-BC4C-D622087D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518">
              <a:extLst>
                <a:ext uri="{FF2B5EF4-FFF2-40B4-BE49-F238E27FC236}">
                  <a16:creationId xmlns:a16="http://schemas.microsoft.com/office/drawing/2014/main" id="{1F802227-5CA9-40B4-870E-495C7899C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519">
              <a:extLst>
                <a:ext uri="{FF2B5EF4-FFF2-40B4-BE49-F238E27FC236}">
                  <a16:creationId xmlns:a16="http://schemas.microsoft.com/office/drawing/2014/main" id="{11A19F9E-BB49-4808-8481-77F848C2F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Straight Connector 520">
              <a:extLst>
                <a:ext uri="{FF2B5EF4-FFF2-40B4-BE49-F238E27FC236}">
                  <a16:creationId xmlns:a16="http://schemas.microsoft.com/office/drawing/2014/main" id="{C53A57BE-F139-4C31-8201-477E20DD2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Straight Connector 521">
              <a:extLst>
                <a:ext uri="{FF2B5EF4-FFF2-40B4-BE49-F238E27FC236}">
                  <a16:creationId xmlns:a16="http://schemas.microsoft.com/office/drawing/2014/main" id="{99F800EC-2D85-47C7-BFB8-B146DD929C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Straight Connector 522">
              <a:extLst>
                <a:ext uri="{FF2B5EF4-FFF2-40B4-BE49-F238E27FC236}">
                  <a16:creationId xmlns:a16="http://schemas.microsoft.com/office/drawing/2014/main" id="{4478BA6D-3F48-40B1-8227-830029B62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Straight Connector 523">
              <a:extLst>
                <a:ext uri="{FF2B5EF4-FFF2-40B4-BE49-F238E27FC236}">
                  <a16:creationId xmlns:a16="http://schemas.microsoft.com/office/drawing/2014/main" id="{421E6C45-0A76-456E-BDD6-3DCB661262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6" name="Right Triangle 525">
            <a:extLst>
              <a:ext uri="{FF2B5EF4-FFF2-40B4-BE49-F238E27FC236}">
                <a16:creationId xmlns:a16="http://schemas.microsoft.com/office/drawing/2014/main" id="{3C541D4F-11C2-4F36-B2A3-AB9028F2A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8BE18A-779F-C170-81F6-902C3A80A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038652" cy="18811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Adult Fans of LEGO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E5450-6E0E-E755-56A9-54EF5FE928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9" y="2886117"/>
            <a:ext cx="4038652" cy="327682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CA" dirty="0"/>
              <a:t>Parts clustering (&gt;1500 pieces) → 38% revenue (up from 12%)</a:t>
            </a:r>
            <a:endParaRPr lang="en-CA" dirty="0">
              <a:effectLst/>
            </a:endParaRPr>
          </a:p>
        </p:txBody>
      </p:sp>
      <p:pic>
        <p:nvPicPr>
          <p:cNvPr id="8" name="Content Placeholder 7" descr="A graph with blue bars&#10;&#10;AI-generated content may be incorrect.">
            <a:extLst>
              <a:ext uri="{FF2B5EF4-FFF2-40B4-BE49-F238E27FC236}">
                <a16:creationId xmlns:a16="http://schemas.microsoft.com/office/drawing/2014/main" id="{F1939CBF-C8A5-6D04-CDC6-FEC28E864EC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06333" y="1035833"/>
            <a:ext cx="6401443" cy="48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026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blue bars&#10;&#10;AI-generated content may be incorrect.">
            <a:extLst>
              <a:ext uri="{FF2B5EF4-FFF2-40B4-BE49-F238E27FC236}">
                <a16:creationId xmlns:a16="http://schemas.microsoft.com/office/drawing/2014/main" id="{032467AA-82EF-9FCA-AE75-664FD5332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145" y="0"/>
            <a:ext cx="9143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4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789C47-8946-9FDB-FF08-0A65418C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" name="Group 237">
            <a:extLst>
              <a:ext uri="{FF2B5EF4-FFF2-40B4-BE49-F238E27FC236}">
                <a16:creationId xmlns:a16="http://schemas.microsoft.com/office/drawing/2014/main" id="{5D12019D-B127-BBE1-4182-8F216FA26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9F8B32DA-8789-5382-BB0D-41E1BC7B15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3F16F116-C13F-2A0B-CFA9-E30BA8EDAC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DD499EE6-2AC2-1024-A4E3-CB2E677BC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B3F038DA-F94E-08D0-7264-A3CF11FF93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84FA587A-05B4-9709-0A57-D87414BE68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381C9A74-E92B-CE83-5ACF-F6C1A3E7A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82C0A6D7-EF2E-6801-521E-3DC03CE49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2326F268-9BCF-4914-7855-801A479A4C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C78804B6-F2CD-2A7C-2333-8EFC6D89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984A2D15-99F7-B40F-67AB-D815F1605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654387DA-006D-1728-2579-80A49D02D5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C5021824-4E5C-1504-5B43-0E402225B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A251DFA2-980C-B1CF-F3AC-1B62DD1FA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1148A87F-33C5-27E9-1B87-E0881626C2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5BBFD98-F9CB-8845-7895-991B70696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4BF7686-7D25-7187-5372-8C4A6C2B52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51CC24BF-F89B-9489-8370-F8E467033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71BCDAE2-E7A0-94EE-571E-A8DCDC147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DE0A9F87-9149-F862-751F-37A16C3320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7B0D5DB6-3206-5790-99E5-F4F37F77D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ABA9CC67-F3D7-9D72-2C1B-935E1D507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F79586D0-96DB-8B3C-028A-9797CC2A02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359D2E3E-0293-3B37-86F9-33FC44CFD4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DD0D429B-01E1-350C-279D-FD1409316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9161428A-9138-09D9-A2D2-C78C16F68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CF24E4C6-FFCD-F314-C8FD-760BC8317C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9FD3B98E-6EED-F4A6-1149-83B9C144D8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39F239DC-65FF-89D3-BD64-2F0377A26E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46AF840E-B7F1-C58A-6CB8-953F3E5EA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BD8533C9-6F8B-368F-45F9-000ECA7E9B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EDC4A38B-35E3-6624-32DB-6A01CA4C3D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1" name="Right Triangle 270">
            <a:extLst>
              <a:ext uri="{FF2B5EF4-FFF2-40B4-BE49-F238E27FC236}">
                <a16:creationId xmlns:a16="http://schemas.microsoft.com/office/drawing/2014/main" id="{36044A5D-B990-DA42-C5EE-9E2AF5FB6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 useBgFill="1">
        <p:nvSpPr>
          <p:cNvPr id="273" name="Rectangle 272">
            <a:extLst>
              <a:ext uri="{FF2B5EF4-FFF2-40B4-BE49-F238E27FC236}">
                <a16:creationId xmlns:a16="http://schemas.microsoft.com/office/drawing/2014/main" id="{4D9C3B9B-677D-B830-BCFD-5EFC7071E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2D306069-C7D5-FB23-A8B2-A725295EA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868C459D-82A8-F41F-0828-A270CA5D6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934BE504-77B5-B70F-D1FF-78761C6BED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E26C0555-E56B-EC06-076A-818B5788B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1B047D5D-0A0D-7135-B5AC-F5B5F2B7AB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64B440EF-13DE-DD3B-A2DB-E210F52A0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7383727F-CEDC-6853-7D0F-D1693FFE3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46C80002-42CA-AD4E-3EF9-1AFBEF01C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332E74F5-BADC-7DE1-110B-7E0AAAF5F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4CA51BB6-DBEF-3B0E-A30D-E51694B0C0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EDBF1562-1938-F776-1D3C-EBD747BED3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12289BD0-ED7E-D435-1E39-5346ED2E85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86B16248-9EF2-2CED-2071-659F4922EA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731CE3EE-B275-DA77-2E66-3D042D78D7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DC97E1FA-2AF1-F631-B6FA-09A8C8A30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97300B5E-BC81-0B63-9201-E51C398820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286FC2D2-817D-594E-73DC-08C1D5171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AF1C34F0-0CFC-A7F6-716A-CE6EAD93EB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EAE51DF-018F-2208-B4F4-6C34F705E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E0630880-4DA6-D3F7-0D80-458116BC4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B0B5D7CC-F142-76EC-63ED-3D57A9DB0D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04435FDC-2700-140B-E2B0-7B67B1ACB0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578F8A42-D696-2CB1-2B06-2248976A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9104C4DC-126B-5351-2203-BDF605CFC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049BA18C-2F18-860D-3012-1323DD44B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7ED0CBC8-EAD9-C1ED-7DCC-34EFCEE2F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158C878-FA48-0498-71DC-AF38D97528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CCED6F51-0516-E9B1-A8D9-1291D75B2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10C6CAF7-B742-5E25-0178-EFD412DE57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57CC8E69-CECC-DE6D-3D96-F3B1DDB91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835CE045-1572-8FA0-4AB9-EF1C07400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7C0F6A29-79A9-9447-06CB-A1C900002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8" name="Right Triangle 307">
            <a:extLst>
              <a:ext uri="{FF2B5EF4-FFF2-40B4-BE49-F238E27FC236}">
                <a16:creationId xmlns:a16="http://schemas.microsoft.com/office/drawing/2014/main" id="{5C8981C0-D468-25B1-2957-655A6420C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3" y="205909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8268E7-563C-04BA-9E91-656211E33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2"/>
            <a:ext cx="4590926" cy="188117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Yearly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53D82-B596-16D8-D465-46A464FC2B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9" y="2886117"/>
            <a:ext cx="4038652" cy="3276824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Major avenue </a:t>
            </a:r>
            <a:r>
              <a:rPr lang="en-CA" sz="1400" dirty="0"/>
              <a:t>annual revenue occurs Nov–Dec.</a:t>
            </a:r>
          </a:p>
          <a:p>
            <a:pPr>
              <a:lnSpc>
                <a:spcPct val="100000"/>
              </a:lnSpc>
            </a:pPr>
            <a:r>
              <a:rPr lang="en-CA" sz="1400" dirty="0"/>
              <a:t>The remaining 52% is spread across 10 months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CA" sz="1400" dirty="0"/>
              <a:t>→ massive untapped shoulder-season opportunity.</a:t>
            </a:r>
          </a:p>
          <a:p>
            <a:pPr>
              <a:lnSpc>
                <a:spcPct val="100000"/>
              </a:lnSpc>
            </a:pPr>
            <a:endParaRPr lang="en-CA" sz="1400" dirty="0"/>
          </a:p>
        </p:txBody>
      </p:sp>
      <p:pic>
        <p:nvPicPr>
          <p:cNvPr id="8" name="Content Placeholder 7" descr="A graph of sales distribution&#10;&#10;AI-generated content may be incorrect.">
            <a:extLst>
              <a:ext uri="{FF2B5EF4-FFF2-40B4-BE49-F238E27FC236}">
                <a16:creationId xmlns:a16="http://schemas.microsoft.com/office/drawing/2014/main" id="{27077DA3-FCB7-E394-A636-38707261737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06333" y="1035833"/>
            <a:ext cx="6401443" cy="4801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358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C8851-8596-0BD2-23F2-B4812BB3C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79756-B4FA-7057-EB0C-F8DB11758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Expand Adult Sets</a:t>
            </a:r>
          </a:p>
          <a:p>
            <a:r>
              <a:rPr lang="en-CA" dirty="0"/>
              <a:t>Shoulder-Season Events</a:t>
            </a:r>
          </a:p>
          <a:p>
            <a:r>
              <a:rPr lang="en-CA" dirty="0"/>
              <a:t>Review-Seeding Program</a:t>
            </a:r>
          </a:p>
          <a:p>
            <a:r>
              <a:rPr lang="en-CA" dirty="0"/>
              <a:t>Predictive Pricing Engine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5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D8401-2C1E-ED20-305D-B56AD2266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C9228-C5B2-77B1-881D-F621994BC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Development Plan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936DB-100B-A4B1-BF27-39D11F557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Tech Stack</a:t>
            </a:r>
            <a:r>
              <a:rPr lang="en-CA" dirty="0"/>
              <a:t>: Python (Pandas, Prophet, </a:t>
            </a:r>
            <a:r>
              <a:rPr lang="en-CA" dirty="0" err="1"/>
              <a:t>LightGBM</a:t>
            </a:r>
            <a:r>
              <a:rPr lang="en-CA" dirty="0"/>
              <a:t>), </a:t>
            </a:r>
            <a:r>
              <a:rPr lang="en-CA" dirty="0" err="1"/>
              <a:t>Streamlit</a:t>
            </a:r>
            <a:r>
              <a:rPr lang="en-CA" dirty="0"/>
              <a:t> for dashboard.</a:t>
            </a:r>
          </a:p>
          <a:p>
            <a:r>
              <a:rPr lang="en-CA" b="1" dirty="0"/>
              <a:t>Management</a:t>
            </a:r>
            <a:r>
              <a:rPr lang="en-CA" dirty="0"/>
              <a:t>: Agile (bi-weekly demos), team: 3 engineers + 1 DS.</a:t>
            </a:r>
          </a:p>
          <a:p>
            <a:r>
              <a:rPr lang="en-CA" b="1" dirty="0"/>
              <a:t>Prototype to Production</a:t>
            </a:r>
            <a:r>
              <a:rPr lang="en-CA" dirty="0"/>
              <a:t>: Integrate with Amazon SP-API, deploy on AWS ($1.8M/3yr)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58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F81B1-A2A8-274B-E495-B1C719089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1428275438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377</Words>
  <Application>Microsoft Macintosh PowerPoint</Application>
  <PresentationFormat>Widescreen</PresentationFormat>
  <Paragraphs>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Grandview</vt:lpstr>
      <vt:lpstr>Wingdings</vt:lpstr>
      <vt:lpstr>CosineVTI</vt:lpstr>
      <vt:lpstr>LEGO Amazon Profit Optimization</vt:lpstr>
      <vt:lpstr>Business Overview</vt:lpstr>
      <vt:lpstr>Data Sources</vt:lpstr>
      <vt:lpstr>Pricing vs. competitors</vt:lpstr>
      <vt:lpstr>Popularity</vt:lpstr>
      <vt:lpstr>PowerPoint Presentation</vt:lpstr>
      <vt:lpstr>Adult Fans of LEGO</vt:lpstr>
      <vt:lpstr>PowerPoint Presentation</vt:lpstr>
      <vt:lpstr>Yearly distribution</vt:lpstr>
      <vt:lpstr>Recommendations</vt:lpstr>
      <vt:lpstr>Development Plan</vt:lpstr>
      <vt:lpstr>THANKS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Cuong</dc:creator>
  <cp:lastModifiedBy>Kevin Cuong</cp:lastModifiedBy>
  <cp:revision>61</cp:revision>
  <dcterms:created xsi:type="dcterms:W3CDTF">2025-11-07T01:58:09Z</dcterms:created>
  <dcterms:modified xsi:type="dcterms:W3CDTF">2025-12-11T02:12:56Z</dcterms:modified>
</cp:coreProperties>
</file>